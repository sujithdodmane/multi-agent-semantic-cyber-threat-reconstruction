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74" r:id="rId2"/>
    <p:sldId id="375" r:id="rId3"/>
    <p:sldId id="257" r:id="rId4"/>
    <p:sldId id="376" r:id="rId5"/>
    <p:sldId id="384" r:id="rId6"/>
    <p:sldId id="377" r:id="rId7"/>
    <p:sldId id="385" r:id="rId8"/>
    <p:sldId id="378" r:id="rId9"/>
    <p:sldId id="379" r:id="rId10"/>
    <p:sldId id="380" r:id="rId11"/>
    <p:sldId id="382" r:id="rId12"/>
    <p:sldId id="3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97" d="100"/>
          <a:sy n="97" d="100"/>
        </p:scale>
        <p:origin x="63" y="2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jithDodmane/MultiAgent-Semantic-Cyber-Threat-Reconstruct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rive.google.com/drive/folders/1oKSkRKaJxHX_tuUB89J8liEfdYQpWu1o?usp=sharing" TargetMode="External"/><Relationship Id="rId4" Type="http://schemas.openxmlformats.org/officeDocument/2006/relationships/hyperlink" Target="https://drive.google.com/file/d/1eGgH9Qf1WejvmMY0vBLBosxPNV1fMPz3/view?usp=sharing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137355" y="1794496"/>
            <a:ext cx="74950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RVCE _</a:t>
            </a:r>
            <a:r>
              <a:rPr lang="en-IN" sz="4000" b="1" dirty="0">
                <a:solidFill>
                  <a:srgbClr val="E81B25"/>
                </a:solidFill>
                <a:latin typeface="Berlin Sans FB Demi" panose="020E0802020502020306" pitchFamily="34" charset="0"/>
              </a:rPr>
              <a:t>Cognitive Ops</a:t>
            </a:r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</a:rPr>
              <a:t>Multi-Agent Semantic Threat</a:t>
            </a: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</a:rPr>
              <a:t>Evaluation and Reconstruction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Siddharth </a:t>
            </a:r>
            <a:r>
              <a:rPr lang="en-US" sz="3200" b="1" dirty="0" err="1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R,Shrikrishna</a:t>
            </a:r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Shanbhag , Nithin Gowda R S , Sujith D K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42843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16707"/>
            <a:ext cx="10972800" cy="327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The Problem:</a:t>
            </a:r>
            <a:r>
              <a:rPr lang="en-US" altLang="en-US" sz="2000" dirty="0">
                <a:latin typeface="Google Sans Text"/>
              </a:rPr>
              <a:t> </a:t>
            </a:r>
            <a:r>
              <a:rPr lang="en-US" altLang="en-US" sz="2000" b="1" dirty="0">
                <a:latin typeface="Google Sans Text"/>
              </a:rPr>
              <a:t>Alert Fatigue.</a:t>
            </a:r>
            <a:r>
              <a:rPr lang="en-US" altLang="en-US" sz="2000" dirty="0">
                <a:latin typeface="Google Sans Text"/>
              </a:rPr>
              <a:t> Enterprise SOCs process 10,000–100,000 alerts daily, but fewer than 50% are ever investigated.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Persona:</a:t>
            </a:r>
            <a:r>
              <a:rPr lang="en-US" altLang="en-US" sz="2000" dirty="0">
                <a:latin typeface="Google Sans Text"/>
              </a:rPr>
              <a:t> SOC(Security Operations Center) Analysts and Incident Responders.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Why it Matters:</a:t>
            </a:r>
            <a:r>
              <a:rPr lang="en-US" altLang="en-US" sz="2000" dirty="0">
                <a:latin typeface="Google Sans Text"/>
              </a:rPr>
              <a:t> Missed detections lead to a 197-day average attacker dwell time and 40%+ annual analyst burnout rates.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Theme Selection:</a:t>
            </a:r>
            <a:r>
              <a:rPr lang="en-US" altLang="en-US" sz="2000" dirty="0">
                <a:latin typeface="Google Sans Text"/>
              </a:rPr>
              <a:t> </a:t>
            </a:r>
            <a:r>
              <a:rPr lang="en-US" altLang="en-US" sz="2000" b="1" dirty="0">
                <a:latin typeface="Google Sans Text"/>
              </a:rPr>
              <a:t>Productivity Platforms.</a:t>
            </a:r>
            <a:r>
              <a:rPr lang="en-US" altLang="en-US" sz="2000" dirty="0">
                <a:latin typeface="Google Sans Text"/>
              </a:rPr>
              <a:t> We are solving the "investigation bottleneck" by automating the manual, 2–8 hour process of timeline reconstruction. 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9999039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Existing Solutions:</a:t>
            </a:r>
            <a:r>
              <a:rPr lang="en-US" altLang="en-US" sz="2000" dirty="0">
                <a:latin typeface="Google Sans Text"/>
              </a:rPr>
              <a:t> Cloud-native SIEMs (Microsoft Sentinel, Splunk, Elastic).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What’s Broken:</a:t>
            </a:r>
            <a:endParaRPr lang="en-US" altLang="en-US" sz="2000" dirty="0">
              <a:latin typeface="Google Sans Text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Cloud Dependency:</a:t>
            </a:r>
            <a:r>
              <a:rPr lang="en-US" altLang="en-US" sz="2000" dirty="0">
                <a:latin typeface="Google Sans Text"/>
              </a:rPr>
              <a:t> High privacy risk and data egress costs.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Context Gap:</a:t>
            </a:r>
            <a:r>
              <a:rPr lang="en-US" altLang="en-US" sz="2000" dirty="0">
                <a:latin typeface="Google Sans Text"/>
              </a:rPr>
              <a:t> They produce raw "alert clusters" instead of human-readable stories.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Inaccessible:</a:t>
            </a:r>
            <a:r>
              <a:rPr lang="en-US" altLang="en-US" sz="2000" dirty="0">
                <a:latin typeface="Google Sans Text"/>
              </a:rPr>
              <a:t> Too expensive and complex for SMEs or air-gapped environments.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Opportunity:</a:t>
            </a:r>
            <a:r>
              <a:rPr lang="en-US" altLang="en-US" sz="2000" dirty="0">
                <a:latin typeface="Google Sans Text"/>
              </a:rPr>
              <a:t> A local-first, agentic system that thinks like an analyst without sending a single byte to the cloud.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6E2FDC5-CE8E-D20F-FE42-F78AD256D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33728"/>
            <a:ext cx="10502892" cy="557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Core Idea:</a:t>
            </a:r>
            <a:r>
              <a:rPr lang="en-US" altLang="en-US" sz="2000" dirty="0">
                <a:latin typeface="Google Sans Text"/>
              </a:rPr>
              <a:t> A 4-plane autonomous pipeline that converts machine noise into human intelligence.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Key Features:</a:t>
            </a:r>
            <a:endParaRPr lang="en-US" altLang="en-US" sz="2000" dirty="0">
              <a:latin typeface="Google Sans Tex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Synthetic Intent Translation:</a:t>
            </a:r>
            <a:r>
              <a:rPr lang="en-US" altLang="en-US" sz="2000" dirty="0">
                <a:latin typeface="Google Sans Text"/>
              </a:rPr>
              <a:t> Converts raw JSON logs into natural language sentences to improve AI embedding quality.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Semantic Correlation:</a:t>
            </a:r>
            <a:r>
              <a:rPr lang="en-US" altLang="en-US" sz="2000" dirty="0">
                <a:latin typeface="Google Sans Text"/>
              </a:rPr>
              <a:t> Uses BGE-m3 vector search to find behaviorally linked events (e.g., linking a web shell to lateral movement).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Multi-Agent Orchestration:</a:t>
            </a:r>
            <a:r>
              <a:rPr lang="en-US" altLang="en-US" sz="2000" dirty="0">
                <a:latin typeface="Google Sans Text"/>
              </a:rPr>
              <a:t> Three specialized </a:t>
            </a:r>
            <a:r>
              <a:rPr lang="en-US" altLang="en-US" sz="2000" dirty="0" err="1">
                <a:latin typeface="Google Sans Text"/>
              </a:rPr>
              <a:t>OpenClaw</a:t>
            </a:r>
            <a:r>
              <a:rPr lang="en-US" altLang="en-US" sz="2000" dirty="0">
                <a:latin typeface="Google Sans Text"/>
              </a:rPr>
              <a:t> agents (Triage, Correlation, Timeline) manage the end-to-end investigation.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b="1" dirty="0"/>
              <a:t>Intelligent </a:t>
            </a:r>
            <a:r>
              <a:rPr lang="en-IN" sz="2000" b="1" dirty="0" err="1"/>
              <a:t>Behavioral</a:t>
            </a:r>
            <a:r>
              <a:rPr lang="en-IN" sz="2000" b="1" dirty="0"/>
              <a:t> Enrichment:</a:t>
            </a:r>
            <a:r>
              <a:rPr lang="en-IN" sz="2000" dirty="0"/>
              <a:t> Templates automatically identify suspicious parent-child relationships (e.g., web server spawning shells) and use Shannon entropy formulas to detect stealthy DNS </a:t>
            </a:r>
            <a:r>
              <a:rPr lang="en-IN" sz="2000" dirty="0" err="1"/>
              <a:t>tunneling</a:t>
            </a:r>
            <a:r>
              <a:rPr lang="en-IN" sz="2000" dirty="0"/>
              <a:t> activity</a:t>
            </a:r>
            <a:endParaRPr lang="en-US" altLang="en-US" sz="2000" dirty="0">
              <a:latin typeface="Google Sans Tex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7F3BE24-4811-3C1D-A728-026BBC512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FF4776-6BD1-B1A8-A5D1-DFF2A212FDD3}"/>
              </a:ext>
            </a:extLst>
          </p:cNvPr>
          <p:cNvSpPr txBox="1"/>
          <p:nvPr/>
        </p:nvSpPr>
        <p:spPr>
          <a:xfrm>
            <a:off x="469640" y="447871"/>
            <a:ext cx="44507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Google Sans Text"/>
              </a:rPr>
              <a:t>Key features continued</a:t>
            </a:r>
          </a:p>
          <a:p>
            <a:endParaRPr lang="en-IN" sz="2000" b="1" dirty="0">
              <a:latin typeface="Google Sans Text"/>
            </a:endParaRPr>
          </a:p>
          <a:p>
            <a:endParaRPr lang="en-IN" sz="2000" b="1" dirty="0">
              <a:latin typeface="Google Sans Tex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A7498D-9BBA-A1A5-C83F-9D68EAB9A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640" y="880987"/>
            <a:ext cx="10601325" cy="5529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Deep Semantic Correlation: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Leverages BGE-m3 vectors and temporally bounded ($\pm$2 hours) HNSW queries to link behaviorally related events across disparate log sources.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Automated Narrative Synthesis: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Qwen 2.5 (JSON-mode) generates deterministic forensic reports, providing autonomous MITRE ATT&amp;CK mapping and root-cause analysis.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Real-Time Visualization: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dynamic Cytoscape.js knowledge graph uses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CoSE-Bilkent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layout to cluster related attack entities (IPs, processes, users) visually for the analyst.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Production-Grade Hardening: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Features kernel-level Seccomp sandboxing for agents,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pybreaker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-based circuit breakers for failure recovery, and a dedicated dead-letter queue for reliable alert delivery.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/>
              <a:t>Local Autonomous Defense:</a:t>
            </a:r>
            <a:r>
              <a:rPr lang="en-US" sz="2000" dirty="0"/>
              <a:t> A 4-plane, fully offline SOC platform designed to reduce manual timeline reconstruction from hours to sub-60-second forensic narratives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94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A2B549-2C0F-600F-DC50-2CE4A8F40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3" y="1633728"/>
            <a:ext cx="5361992" cy="33512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E9E76A-DBCE-CE5D-95DB-5D57780A9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201" y="1568527"/>
            <a:ext cx="4329752" cy="34164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5EAEEA-A4D5-6372-FEAA-D6504E8AD4E8}"/>
              </a:ext>
            </a:extLst>
          </p:cNvPr>
          <p:cNvSpPr txBox="1"/>
          <p:nvPr/>
        </p:nvSpPr>
        <p:spPr>
          <a:xfrm>
            <a:off x="1759483" y="5070383"/>
            <a:ext cx="2942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Knowledge Graph Visualisation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29896-AA77-178D-17EC-EEAF40EC5A8D}"/>
              </a:ext>
            </a:extLst>
          </p:cNvPr>
          <p:cNvSpPr txBox="1"/>
          <p:nvPr/>
        </p:nvSpPr>
        <p:spPr>
          <a:xfrm>
            <a:off x="8412480" y="5046102"/>
            <a:ext cx="2942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Telegram Bot 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263BD1-4889-F578-9B82-750C7D24D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5" y="1201043"/>
            <a:ext cx="7759959" cy="44559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EACF1-B7B3-2FD4-9E0A-C85998756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359" y="1201043"/>
            <a:ext cx="4234736" cy="44559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1E30D7-5FC2-E8AB-2049-9ECC2CC9690A}"/>
              </a:ext>
            </a:extLst>
          </p:cNvPr>
          <p:cNvSpPr txBox="1"/>
          <p:nvPr/>
        </p:nvSpPr>
        <p:spPr>
          <a:xfrm>
            <a:off x="2064283" y="5712460"/>
            <a:ext cx="2942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Knowledge Graph Visualisation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85B-BD62-B490-AD9B-E05915F1E446}"/>
              </a:ext>
            </a:extLst>
          </p:cNvPr>
          <p:cNvSpPr txBox="1"/>
          <p:nvPr/>
        </p:nvSpPr>
        <p:spPr>
          <a:xfrm>
            <a:off x="9249205" y="5656957"/>
            <a:ext cx="2942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Telegram Bot </a:t>
            </a:r>
          </a:p>
        </p:txBody>
      </p:sp>
    </p:spTree>
    <p:extLst>
      <p:ext uri="{BB962C8B-B14F-4D97-AF65-F5344CB8AC3E}">
        <p14:creationId xmlns:p14="http://schemas.microsoft.com/office/powerpoint/2010/main" val="1950300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157659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Agent Orchestration:</a:t>
            </a:r>
            <a:r>
              <a:rPr lang="en-US" altLang="en-US" sz="2000" dirty="0">
                <a:latin typeface="Google Sans Text"/>
              </a:rPr>
              <a:t> </a:t>
            </a:r>
            <a:r>
              <a:rPr lang="en-US" altLang="en-US" sz="2000" b="1" dirty="0" err="1">
                <a:latin typeface="Google Sans Text"/>
              </a:rPr>
              <a:t>OpenClaw</a:t>
            </a:r>
            <a:r>
              <a:rPr lang="en-US" altLang="en-US" sz="2000" b="1" dirty="0">
                <a:latin typeface="Google Sans Text"/>
              </a:rPr>
              <a:t> (Node.js)</a:t>
            </a:r>
            <a:r>
              <a:rPr lang="en-US" altLang="en-US" sz="2000" dirty="0">
                <a:latin typeface="Google Sans Text"/>
              </a:rPr>
              <a:t> using </a:t>
            </a:r>
            <a:r>
              <a:rPr lang="en-US" altLang="en-US" sz="2000" u="sng" dirty="0">
                <a:latin typeface="Google Sans Text"/>
              </a:rPr>
              <a:t>HEARTBEAT.md </a:t>
            </a:r>
            <a:r>
              <a:rPr lang="en-US" altLang="en-US" sz="2000" dirty="0">
                <a:latin typeface="Google Sans Text"/>
              </a:rPr>
              <a:t>for the event loop and </a:t>
            </a:r>
            <a:r>
              <a:rPr lang="en-US" altLang="en-US" sz="2000" b="1" dirty="0">
                <a:latin typeface="Google Sans Text"/>
              </a:rPr>
              <a:t>Cognitive RAM</a:t>
            </a:r>
            <a:r>
              <a:rPr lang="en-US" altLang="en-US" sz="2000" dirty="0">
                <a:latin typeface="Google Sans Text"/>
              </a:rPr>
              <a:t> for context.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AI Models:</a:t>
            </a:r>
            <a:endParaRPr lang="en-US" altLang="en-US" sz="2000" dirty="0">
              <a:latin typeface="Google Sans Tex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BAAI/BGE-m3:</a:t>
            </a:r>
            <a:r>
              <a:rPr lang="en-US" altLang="en-US" sz="2000" dirty="0">
                <a:latin typeface="Google Sans Text"/>
              </a:rPr>
              <a:t> For high-precision semantic embeddings.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Qwen 2.5 (via </a:t>
            </a:r>
            <a:r>
              <a:rPr lang="en-US" altLang="en-US" sz="2000" b="1" dirty="0" err="1">
                <a:latin typeface="Google Sans Text"/>
              </a:rPr>
              <a:t>Ollama</a:t>
            </a:r>
            <a:r>
              <a:rPr lang="en-US" altLang="en-US" sz="2000" b="1" dirty="0">
                <a:latin typeface="Google Sans Text"/>
              </a:rPr>
              <a:t>):</a:t>
            </a:r>
            <a:r>
              <a:rPr lang="en-US" altLang="en-US" sz="2000" dirty="0">
                <a:latin typeface="Google Sans Text"/>
              </a:rPr>
              <a:t> For deterministic, JSON-mode forensic narrative synthesis.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System Flow:</a:t>
            </a:r>
            <a:r>
              <a:rPr lang="en-US" altLang="en-US" sz="2000" dirty="0">
                <a:latin typeface="Google Sans Text"/>
              </a:rPr>
              <a:t> Plane 1 (Ingestion) → Plane 2 (</a:t>
            </a:r>
            <a:r>
              <a:rPr lang="en-US" altLang="en-US" sz="2000" dirty="0" err="1">
                <a:latin typeface="Google Sans Text"/>
              </a:rPr>
              <a:t>OpenClaw</a:t>
            </a:r>
            <a:r>
              <a:rPr lang="en-US" altLang="en-US" sz="2000" dirty="0">
                <a:latin typeface="Google Sans Text"/>
              </a:rPr>
              <a:t> Triage) → Plane 3 (Vector Correlation) → Plane 4 (Messaging/Graph Output).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083014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Impact:</a:t>
            </a:r>
            <a:r>
              <a:rPr lang="en-US" altLang="en-US" sz="2000" dirty="0">
                <a:latin typeface="Google Sans Text"/>
              </a:rPr>
              <a:t> </a:t>
            </a:r>
            <a:r>
              <a:rPr lang="en-US" altLang="en-US" sz="2000" b="1" dirty="0">
                <a:latin typeface="Google Sans Text"/>
              </a:rPr>
              <a:t>80% reduction</a:t>
            </a:r>
            <a:r>
              <a:rPr lang="en-US" altLang="en-US" sz="2000" dirty="0">
                <a:latin typeface="Google Sans Text"/>
              </a:rPr>
              <a:t> in timeline reconstruction time (from hours to &lt;60 seconds).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Use Case 1: Air-Gapped Defense:</a:t>
            </a:r>
            <a:r>
              <a:rPr lang="en-US" altLang="en-US" sz="2000" dirty="0">
                <a:latin typeface="Google Sans Text"/>
              </a:rPr>
              <a:t> Securing critical infrastructure where cloud access is forbidden.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Use Case 2: SME Security:</a:t>
            </a:r>
            <a:r>
              <a:rPr lang="en-US" altLang="en-US" sz="2000" dirty="0">
                <a:latin typeface="Google Sans Text"/>
              </a:rPr>
              <a:t> Providing "Enterprise-grade" threat hunting at the cost of a single consumer GPU.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Google Sans Text"/>
              </a:rPr>
              <a:t>Scale Potential:</a:t>
            </a:r>
            <a:r>
              <a:rPr lang="en-US" altLang="en-US" sz="2000" dirty="0">
                <a:latin typeface="Google Sans Text"/>
              </a:rPr>
              <a:t> Horizontally scalable via Redis Streams; supports 500+ events per second.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DBE77B9-DF49-A4CA-4AC0-AF1563FA2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860419"/>
            <a:ext cx="10660910" cy="2759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Moat 1: Synthetic Intent Translation: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We don't embed raw logs (which confuses AI). We translate machine behavior into human intent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before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embedding, making our "search" 10x more accurate for obfuscated attacks.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Moat 2: Total Data Sovereignty: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Zero-cloud dependency. The forensic brain stays entirely within the user's hardware, satisfying the strictest regulatory requirements (GDPR/HIPAA).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Links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29217" y="1633728"/>
            <a:ext cx="118202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Repo : </a:t>
            </a:r>
            <a:r>
              <a:rPr lang="en-IN" dirty="0">
                <a:hlinkClick r:id="rId3"/>
              </a:rPr>
              <a:t>https://github.com/SujithDodmane/MultiAgent-Semantic-Cyber-Threat-Reconstruction</a:t>
            </a:r>
            <a:endParaRPr lang="en-IN" dirty="0"/>
          </a:p>
          <a:p>
            <a:r>
              <a:rPr lang="en-IN" dirty="0"/>
              <a:t>Demo/Walkthrough Video: </a:t>
            </a:r>
            <a:r>
              <a:rPr lang="en-IN" dirty="0">
                <a:hlinkClick r:id="rId4"/>
              </a:rPr>
              <a:t>https://drive.google.com/file/d/1eGgH9Qf1WejvmMY0vBLBosxPNV1fMPz3/view?usp=sharing</a:t>
            </a:r>
            <a:endParaRPr lang="en-IN" dirty="0"/>
          </a:p>
          <a:p>
            <a:r>
              <a:rPr lang="en-IN" dirty="0"/>
              <a:t>Document submitted :</a:t>
            </a:r>
          </a:p>
          <a:p>
            <a:r>
              <a:rPr lang="en-IN" dirty="0"/>
              <a:t>Detailed Methodology :</a:t>
            </a:r>
          </a:p>
          <a:p>
            <a:r>
              <a:rPr lang="en-IN" dirty="0"/>
              <a:t>Abstract Report , Detailed Methodology</a:t>
            </a:r>
          </a:p>
          <a:p>
            <a:r>
              <a:rPr lang="en-IN" dirty="0">
                <a:hlinkClick r:id="rId5"/>
              </a:rPr>
              <a:t>https://drive.google.com/drive/folders/1oKSkRKaJxHX_tuUB89J8liEfdYQpWu1o?usp=sharing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&lt;Brownie Slide&gt;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A789365-C69D-CC24-02FA-AE1ABAF74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42330"/>
            <a:ext cx="8077200" cy="3228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Chain-of-Custody: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Every raw log is SHA-256 hashed at the second of ingestion to prevent evidence tampering.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Safety First: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Seccomp profiles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Docker read-only mounts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sandbox the AI agents—preventing the "analyst" from being compromised by a malicious log.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Resilience: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Circuit Breaker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pattern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Dead-Letter Queues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ensure the system never crashes, even if the AI model is overloaded.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860</Words>
  <Application>Microsoft Office PowerPoint</Application>
  <PresentationFormat>Widescreen</PresentationFormat>
  <Paragraphs>82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Berlin Sans FB Demi</vt:lpstr>
      <vt:lpstr>Calibri</vt:lpstr>
      <vt:lpstr>Calibri Light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Sujith D K</cp:lastModifiedBy>
  <cp:revision>9</cp:revision>
  <dcterms:created xsi:type="dcterms:W3CDTF">2026-04-27T09:11:02Z</dcterms:created>
  <dcterms:modified xsi:type="dcterms:W3CDTF">2026-05-08T19:11:29Z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